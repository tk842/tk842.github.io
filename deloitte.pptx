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623160-F90D-F92A-DF88-62FF2C12BFFB}" v="11" dt="2026-04-16T16:43:56.810"/>
    <p1510:client id="{3862993B-B8A5-7654-BBEC-71D22EEA5CA9}" v="140" dt="2026-04-16T16:46:37.478"/>
    <p1510:client id="{7E203505-9066-C433-6790-A829BD1A5B99}" v="79" dt="2026-04-16T03:52:11.731"/>
    <p1510:client id="{898F12D2-B596-4198-6A30-D0323F165099}" v="3377" dt="2026-04-16T17:06:11.564"/>
    <p1510:client id="{B61FA7B5-2804-1949-F358-7B5727CEC0F0}" v="4" dt="2026-04-16T03:49:28.954"/>
    <p1510:client id="{C5FB2EF2-62EB-7353-F7DF-DC2501E23717}" v="975" dt="2026-04-16T16:41:17.403"/>
    <p1510:client id="{C8DFE6EE-7E45-C60C-CE0B-E3FD4AAC618C}" v="167" dt="2026-04-16T03:52:22.9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2A27C-D076-43BF-99C3-E1245BC87BB3}" type="datetimeFigureOut"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20D9E-42B0-46BF-B97B-D6A7C65CB91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11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D3718-AEB0-ACD5-860F-D463111BD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D835A-30C7-B90E-A5F3-48D559A0A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52427-F8E7-C5F0-8BAE-079A1DCFF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E41BE-DF9F-9B4D-3A4C-44C9691323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949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HealthE</a:t>
            </a:r>
            <a:endParaRPr lang="en-US" sz="480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for</a:t>
            </a:r>
            <a:endParaRPr lang="en-US" sz="2200"/>
          </a:p>
          <a:p>
            <a:pPr marL="0" indent="0">
              <a:buNone/>
            </a:pPr>
            <a:r>
              <a:rPr lang="en-US" sz="2200" i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Adoption, Trust &amp; Long-Term Growth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59436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Tarini Kanapuram  ·  Riya Chowdawarapu  ·  Parita Khatri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9436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Case Presentation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303A"/>
          </a:solidFill>
          <a:ln w="12700">
            <a:solidFill>
              <a:srgbClr val="0530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67231" cy="541089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200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247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749808" y="1088136"/>
            <a:ext cx="2312215" cy="237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Overview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749808" y="1280160"/>
            <a:ext cx="3659068" cy="214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adoption &amp; retention despite a quality product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365760" y="1618488"/>
            <a:ext cx="4167231" cy="541089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18488"/>
            <a:ext cx="32004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69164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749808" y="1655064"/>
            <a:ext cx="2312215" cy="237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749808" y="1847088"/>
            <a:ext cx="3659068" cy="214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digital-first marketing is falling short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365760" y="2185416"/>
            <a:ext cx="4167231" cy="541089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85416"/>
            <a:ext cx="3200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25856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749808" y="2221992"/>
            <a:ext cx="2312215" cy="237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749808" y="2414016"/>
            <a:ext cx="3659068" cy="214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confidence through sustained access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365760" y="2752344"/>
            <a:ext cx="4167231" cy="541089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52344"/>
            <a:ext cx="32004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8254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749808" y="2788920"/>
            <a:ext cx="2312215" cy="237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749808" y="2980944"/>
            <a:ext cx="3659068" cy="214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Community-anchored growth strategies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4846320" y="105156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051560"/>
            <a:ext cx="3200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1247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5230368" y="10881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Barriers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5230368" y="128016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technology &amp; uncertainty solutions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4846320" y="16184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618488"/>
            <a:ext cx="32004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169164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5230368" y="16550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5230368" y="184708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one-time users into regular patients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4846320" y="2185416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185416"/>
            <a:ext cx="3200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225856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5230368" y="22219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Growth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5230368" y="241401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into suburban &amp; urban markets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303A"/>
          </a:solidFill>
          <a:ln w="12700">
            <a:solidFill>
              <a:srgbClr val="0530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Main Problem: The Experience of Telehealth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493902" y="210145"/>
            <a:ext cx="8161441" cy="2732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>
                <a:solidFill>
                  <a:srgbClr val="1A3A40"/>
                </a:solidFill>
                <a:latin typeface="Calibri"/>
                <a:ea typeface="Calibri"/>
                <a:cs typeface="Calibri"/>
              </a:rPr>
              <a:t>Three Barriers </a:t>
            </a:r>
            <a:endParaRPr lang="en-US" sz="3600" b="1">
              <a:solidFill>
                <a:srgbClr val="1A3A40"/>
              </a:solidFill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39545" y="2277191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4788" y="2093682"/>
            <a:ext cx="2606040" cy="453425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1" y="2168177"/>
            <a:ext cx="643645" cy="358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Calibri"/>
                <a:ea typeface="Calibri"/>
                <a:cs typeface="Calibri"/>
              </a:rPr>
              <a:t>01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50031" y="26058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b="1">
              <a:solidFill>
                <a:srgbClr val="1A3A40"/>
              </a:solidFill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1948" y="2447908"/>
            <a:ext cx="2326477" cy="1902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50" b="1">
                <a:latin typeface="Calibri"/>
                <a:ea typeface="Calibri"/>
                <a:cs typeface="Calibri"/>
              </a:rPr>
              <a:t>Digital Marketing</a:t>
            </a:r>
            <a:r>
              <a:rPr lang="en-US" sz="1450">
                <a:latin typeface="Calibri"/>
                <a:ea typeface="Calibri"/>
                <a:cs typeface="Calibri"/>
              </a:rPr>
              <a:t> fails to align with connectivity constraints &amp; remains impersonal </a:t>
            </a:r>
          </a:p>
        </p:txBody>
      </p:sp>
      <p:sp>
        <p:nvSpPr>
          <p:cNvPr id="12" name="Shape 10"/>
          <p:cNvSpPr/>
          <p:nvPr/>
        </p:nvSpPr>
        <p:spPr>
          <a:xfrm>
            <a:off x="3174185" y="2130384"/>
            <a:ext cx="2611283" cy="2325638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4185" y="2104169"/>
            <a:ext cx="2611283" cy="44293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6111" y="2194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67418" y="1709300"/>
            <a:ext cx="2301940" cy="124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>
                <a:solidFill>
                  <a:srgbClr val="1A3A40"/>
                </a:solidFill>
                <a:latin typeface="Calibri"/>
                <a:ea typeface="Calibri"/>
                <a:cs typeface="Calibri"/>
              </a:rPr>
              <a:t>Insufficient Trust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48047" y="2547527"/>
            <a:ext cx="2263560" cy="1802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73%</a:t>
            </a:r>
            <a:r>
              <a:rPr lang="en-US" sz="1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of non-adopters prioritize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 in-person interaction &amp; harbor skepticism regarding quality 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08825" y="2277191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14068" y="2088440"/>
            <a:ext cx="2616526" cy="458667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7683" y="1567736"/>
            <a:ext cx="2464475" cy="1551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>
                <a:solidFill>
                  <a:srgbClr val="1A3A40"/>
                </a:solidFill>
                <a:latin typeface="Calibri"/>
                <a:ea typeface="Calibri"/>
                <a:cs typeface="Calibri"/>
              </a:rPr>
              <a:t>Weak Retention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82306" y="2984756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100" i="1">
              <a:latin typeface="Arial"/>
              <a:ea typeface="Calibri"/>
              <a:cs typeface="Arial"/>
            </a:endParaRP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695231CC-C03D-52DD-6AF4-440DD4B2194D}"/>
              </a:ext>
            </a:extLst>
          </p:cNvPr>
          <p:cNvSpPr/>
          <p:nvPr/>
        </p:nvSpPr>
        <p:spPr>
          <a:xfrm>
            <a:off x="3346160" y="2225851"/>
            <a:ext cx="769479" cy="206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Calibri"/>
                <a:ea typeface="Calibri"/>
                <a:cs typeface="Calibri"/>
              </a:rPr>
              <a:t>02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F24DE610-245D-735E-B7E4-A31DA2682FDC}"/>
              </a:ext>
            </a:extLst>
          </p:cNvPr>
          <p:cNvSpPr/>
          <p:nvPr/>
        </p:nvSpPr>
        <p:spPr>
          <a:xfrm>
            <a:off x="6182687" y="2168177"/>
            <a:ext cx="643645" cy="358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Calibri"/>
                <a:ea typeface="Calibri"/>
                <a:cs typeface="Calibri"/>
              </a:rPr>
              <a:t>03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CB083D-CE3D-156B-92FD-7973298411C1}"/>
              </a:ext>
            </a:extLst>
          </p:cNvPr>
          <p:cNvSpPr txBox="1"/>
          <p:nvPr/>
        </p:nvSpPr>
        <p:spPr>
          <a:xfrm>
            <a:off x="-414206" y="2131327"/>
            <a:ext cx="4572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i="0" u="none" strike="noStrike" baseline="0">
                <a:solidFill>
                  <a:srgbClr val="1A3A40"/>
                </a:solidFill>
                <a:latin typeface="Calibri"/>
                <a:ea typeface="Segoe UI"/>
                <a:cs typeface="Segoe UI"/>
              </a:rPr>
              <a:t>Limited</a:t>
            </a:r>
            <a:r>
              <a:rPr lang="en-US" sz="20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  <a:r>
              <a:rPr lang="en-US" sz="200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 </a:t>
            </a:r>
            <a:r>
              <a:rPr lang="en-US" sz="2000" b="1" i="0" u="none" strike="noStrike" baseline="0">
                <a:solidFill>
                  <a:srgbClr val="1A3A40"/>
                </a:solidFill>
                <a:latin typeface="Calibri"/>
                <a:ea typeface="Segoe UI"/>
                <a:cs typeface="Segoe UI"/>
              </a:rPr>
              <a:t>Awareness</a:t>
            </a:r>
            <a:r>
              <a:rPr lang="en-US" sz="20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  <a:endParaRPr lang="en-US" sz="2000">
              <a:ea typeface="Calibri"/>
              <a:cs typeface="Calibri"/>
            </a:endParaRPr>
          </a:p>
          <a:p>
            <a:pPr algn="ctr"/>
            <a:endParaRPr lang="en-US" sz="2000">
              <a:ea typeface="Calibri"/>
              <a:cs typeface="Calibri"/>
            </a:endParaRPr>
          </a:p>
        </p:txBody>
      </p:sp>
      <p:sp>
        <p:nvSpPr>
          <p:cNvPr id="4" name="Text 14">
            <a:extLst>
              <a:ext uri="{FF2B5EF4-FFF2-40B4-BE49-F238E27FC236}">
                <a16:creationId xmlns:a16="http://schemas.microsoft.com/office/drawing/2014/main" id="{A9DAE978-F2CA-08CD-2336-9B0C1F0B46B2}"/>
              </a:ext>
            </a:extLst>
          </p:cNvPr>
          <p:cNvSpPr/>
          <p:nvPr/>
        </p:nvSpPr>
        <p:spPr>
          <a:xfrm>
            <a:off x="6143385" y="2486026"/>
            <a:ext cx="2397425" cy="1881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"Free first visit" leads to short-term sign ups &amp; low retention. </a:t>
            </a:r>
            <a:r>
              <a:rPr lang="en-US" sz="1400" b="1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Habitual Engagement</a:t>
            </a:r>
            <a:r>
              <a:rPr lang="en-US" sz="140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 is </a:t>
            </a:r>
            <a:r>
              <a:rPr lang="en-US" sz="1400" b="1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lacking</a:t>
            </a:r>
            <a:r>
              <a:rPr lang="en-US" sz="140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. </a:t>
            </a:r>
            <a:endParaRPr lang="en-US"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303A"/>
          </a:solidFill>
          <a:ln w="12700">
            <a:solidFill>
              <a:srgbClr val="0530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9421" y="137160"/>
            <a:ext cx="83973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FFFFFF"/>
                </a:solidFill>
                <a:ea typeface="+mn-lt"/>
                <a:cs typeface="+mn-lt"/>
              </a:rPr>
              <a:t>Heightening HealthE's Market Presence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3921" y="108973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3921" y="1089730"/>
            <a:ext cx="3931920" cy="4811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676541"/>
            <a:ext cx="3576646" cy="14856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Font typeface="Arial"/>
              <a:buChar char="•"/>
            </a:pP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Digital advertisements reach only </a:t>
            </a:r>
            <a:r>
              <a:rPr lang="en-US" sz="16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25% </a:t>
            </a: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of prospects — the lowest-performing discovery channel</a:t>
            </a:r>
          </a:p>
          <a:p>
            <a:pPr marL="342900" indent="-342900">
              <a:buSzPct val="100000"/>
              <a:buFont typeface="Arial"/>
              <a:buChar char="•"/>
            </a:pPr>
            <a:endParaRPr lang="en-US" sz="1100">
              <a:latin typeface="Calibri"/>
              <a:ea typeface="Calibri"/>
              <a:cs typeface="Calibri"/>
            </a:endParaRPr>
          </a:p>
          <a:p>
            <a:pPr>
              <a:buSzPct val="100000"/>
            </a:pPr>
            <a:endParaRPr lang="en-US" sz="1100"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Font typeface="Arial"/>
              <a:buChar char="•"/>
            </a:pPr>
            <a:r>
              <a:rPr lang="en-US" sz="1100">
                <a:latin typeface="Calibri"/>
                <a:ea typeface="Calibri"/>
                <a:cs typeface="Calibri"/>
              </a:rPr>
              <a:t>Rural population has limited/inconsistent digital connectivity </a:t>
            </a:r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356616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buSzPct val="100000"/>
            </a:pP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7677" y="3179092"/>
            <a:ext cx="356616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Font typeface="Arial"/>
              <a:buChar char="•"/>
            </a:pPr>
            <a:r>
              <a:rPr lang="en-US" sz="1100">
                <a:solidFill>
                  <a:srgbClr val="000000"/>
                </a:solidFill>
                <a:ea typeface="+mn-lt"/>
                <a:cs typeface="+mn-lt"/>
              </a:rPr>
              <a:t>40% find care through employers/insurers; 35% through providers</a:t>
            </a:r>
            <a:r>
              <a:rPr lang="en-US" sz="110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 — relationship channels dominate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3919882"/>
            <a:ext cx="356616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Font typeface="Arial"/>
              <a:buChar char="•"/>
            </a:pP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Word-of-mouth = highest trust, but low scale</a:t>
            </a:r>
            <a:endParaRPr lang="en-US" sz="1200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pPr marL="800100" lvl="1" indent="-342900">
              <a:buSzPct val="100000"/>
              <a:buFont typeface="Courier New"/>
              <a:buChar char="o"/>
            </a:pP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most effective channel, least invested 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8683" y="1336157"/>
            <a:ext cx="4114800" cy="3539315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89730"/>
            <a:ext cx="4114800" cy="48635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8324" y="1161666"/>
            <a:ext cx="2851838" cy="337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Our Recommendations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00600" y="1828590"/>
            <a:ext cx="374904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A3A40"/>
                </a:solidFill>
                <a:latin typeface="Calibri"/>
                <a:ea typeface="Calibri"/>
                <a:cs typeface="Calibri"/>
              </a:rPr>
              <a:t>Community informational seminars </a:t>
            </a:r>
            <a:endParaRPr lang="en-US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buSzPct val="100000"/>
              <a:buFont typeface="Courier New"/>
              <a:buChar char="o"/>
            </a:pPr>
            <a:r>
              <a:rPr lang="en-US" sz="1100">
                <a:solidFill>
                  <a:srgbClr val="1A3A40"/>
                </a:solidFill>
                <a:latin typeface="Calibri"/>
                <a:ea typeface="Calibri"/>
                <a:cs typeface="Calibri"/>
              </a:rPr>
              <a:t>Conducted virtually &amp; in-person</a:t>
            </a:r>
          </a:p>
        </p:txBody>
      </p:sp>
      <p:sp>
        <p:nvSpPr>
          <p:cNvPr id="15" name="Text 13"/>
          <p:cNvSpPr/>
          <p:nvPr/>
        </p:nvSpPr>
        <p:spPr>
          <a:xfrm>
            <a:off x="4800600" y="2506463"/>
            <a:ext cx="374904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Font typeface="Arial"/>
              <a:buChar char="•"/>
            </a:pPr>
            <a:r>
              <a:rPr lang="en-US" sz="1100">
                <a:solidFill>
                  <a:srgbClr val="1A3A40"/>
                </a:solidFill>
                <a:latin typeface="Calibri"/>
                <a:ea typeface="Calibri"/>
                <a:cs typeface="Calibri"/>
              </a:rPr>
              <a:t>Education on Telehealth basics, navigation and terminology </a:t>
            </a:r>
          </a:p>
          <a:p>
            <a:pPr marL="800100" lvl="1" indent="-342900">
              <a:buSzPct val="100000"/>
              <a:buFont typeface="Courier New"/>
              <a:buChar char="o"/>
            </a:pPr>
            <a:r>
              <a:rPr lang="en-US" sz="1100">
                <a:solidFill>
                  <a:srgbClr val="1A3A40"/>
                </a:solidFill>
                <a:latin typeface="Calibri"/>
                <a:ea typeface="Calibri"/>
                <a:cs typeface="Calibri"/>
              </a:rPr>
              <a:t>Helps build trust and rid uncertainty</a:t>
            </a:r>
          </a:p>
        </p:txBody>
      </p:sp>
      <p:sp>
        <p:nvSpPr>
          <p:cNvPr id="16" name="Text 14"/>
          <p:cNvSpPr/>
          <p:nvPr/>
        </p:nvSpPr>
        <p:spPr>
          <a:xfrm>
            <a:off x="4800600" y="3179093"/>
            <a:ext cx="3544559" cy="73592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A3A40"/>
                </a:solidFill>
                <a:latin typeface="Calibri"/>
                <a:ea typeface="Calibri"/>
                <a:cs typeface="Calibri"/>
              </a:rPr>
              <a:t>Outreach through schools, community centers &amp; local organizations 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00600" y="3841235"/>
            <a:ext cx="3848659" cy="5838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A3A40"/>
                </a:solidFill>
                <a:latin typeface="Calibri"/>
                <a:ea typeface="Calibri"/>
                <a:cs typeface="Calibri"/>
              </a:rPr>
              <a:t>Scale word-of-mouth through trusted community figures 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04E340CA-3FAF-27FE-8CDA-E998FAF280B2}"/>
              </a:ext>
            </a:extLst>
          </p:cNvPr>
          <p:cNvSpPr/>
          <p:nvPr/>
        </p:nvSpPr>
        <p:spPr>
          <a:xfrm>
            <a:off x="1514631" y="1166909"/>
            <a:ext cx="2851838" cy="337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>
                <a:solidFill>
                  <a:srgbClr val="FFFFFF"/>
                </a:solidFill>
                <a:ea typeface="Calibri"/>
                <a:cs typeface="Calibri"/>
              </a:rPr>
              <a:t>Current Gaps </a:t>
            </a:r>
            <a:endParaRPr lang="en-US"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303A"/>
          </a:solidFill>
          <a:ln w="12700">
            <a:solidFill>
              <a:srgbClr val="0530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5200"/>
          </a:p>
        </p:txBody>
      </p:sp>
      <p:sp>
        <p:nvSpPr>
          <p:cNvPr id="6" name="Text 4"/>
          <p:cNvSpPr/>
          <p:nvPr/>
        </p:nvSpPr>
        <p:spPr>
          <a:xfrm>
            <a:off x="502920" y="17190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about telehealth quality &amp; data privacy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4617720" y="1005840"/>
            <a:ext cx="3931920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0515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5200"/>
          </a:p>
        </p:txBody>
      </p:sp>
      <p:sp>
        <p:nvSpPr>
          <p:cNvPr id="9" name="Text 7"/>
          <p:cNvSpPr/>
          <p:nvPr/>
        </p:nvSpPr>
        <p:spPr>
          <a:xfrm>
            <a:off x="4754880" y="17190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prefer in-person care over telehealth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Monthly Free Access Model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743200"/>
            <a:ext cx="73152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7980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Sessions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530352" y="30540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latin typeface="Calibri"/>
                <a:ea typeface="Calibri"/>
                <a:cs typeface="Calibri"/>
              </a:rPr>
              <a:t>New users receive complimentary weekly consultations throughout their first month</a:t>
            </a:r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743200"/>
            <a:ext cx="73152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27980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Flexibility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4873752" y="30540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latin typeface="Calibri"/>
                <a:ea typeface="Calibri"/>
                <a:cs typeface="Calibri"/>
              </a:rPr>
              <a:t>Users can switch providers between sessions — critical for relationship-based communities</a:t>
            </a:r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40480"/>
            <a:ext cx="73152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8953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Pre-Visit Intake Form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530352" y="415137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latin typeface="Calibri"/>
                <a:ea typeface="Calibri"/>
                <a:cs typeface="Calibri"/>
              </a:rPr>
              <a:t>Signals legitimacy, improves provider preparation, and builds a sense of continuity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09160" y="384048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840480"/>
            <a:ext cx="73152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8953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→ Relational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4873752" y="415137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latin typeface="Calibri"/>
                <a:ea typeface="Calibri"/>
                <a:cs typeface="Calibri"/>
              </a:rPr>
              <a:t>Multiple touchpoints allow trust to develop organically over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303A"/>
          </a:solidFill>
          <a:ln w="12700">
            <a:solidFill>
              <a:srgbClr val="0530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000000"/>
                </a:solidFill>
                <a:latin typeface="Arial"/>
                <a:ea typeface="Calibri" pitchFamily="34" charset="-122"/>
                <a:cs typeface="Arial"/>
              </a:rPr>
              <a:t>35% of prospects discover care through providers; 32% through family/friends — partnerships own these two channels</a:t>
            </a: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54480"/>
            <a:ext cx="2697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184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320040" y="212140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Ambassador Programs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429768" y="2697480"/>
            <a:ext cx="242316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Student </a:t>
            </a:r>
            <a:r>
              <a:rPr lang="en-US" sz="10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interns </a:t>
            </a:r>
            <a:r>
              <a:rPr lang="en-US" sz="10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act as on-the-ground guides</a:t>
            </a:r>
          </a:p>
        </p:txBody>
      </p:sp>
      <p:sp>
        <p:nvSpPr>
          <p:cNvPr id="10" name="Text 8"/>
          <p:cNvSpPr/>
          <p:nvPr/>
        </p:nvSpPr>
        <p:spPr>
          <a:xfrm>
            <a:off x="429768" y="3291840"/>
            <a:ext cx="242316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Font typeface="Arial"/>
              <a:buChar char="•"/>
            </a:pPr>
            <a:r>
              <a:rPr lang="en-US" sz="10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First-time</a:t>
            </a:r>
            <a:r>
              <a:rPr lang="en-US" sz="10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user support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9768" y="3886200"/>
            <a:ext cx="242316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Font typeface="Arial"/>
              <a:buChar char="•"/>
            </a:pPr>
            <a:r>
              <a:rPr lang="en-US" sz="10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Close digital literacy </a:t>
            </a:r>
            <a:r>
              <a:rPr lang="en-US" sz="10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gap</a:t>
            </a:r>
            <a:endParaRPr lang="en-US" sz="1050" b="1"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0" y="15544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554480"/>
            <a:ext cx="269748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6184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3175766" y="212140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Resource Initiatives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3310128" y="2697480"/>
            <a:ext cx="242316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050">
                <a:latin typeface="Calibri"/>
                <a:ea typeface="Calibri"/>
                <a:cs typeface="Calibri"/>
              </a:rPr>
              <a:t>Distribute </a:t>
            </a:r>
            <a:r>
              <a:rPr lang="en-US" sz="1050" b="1">
                <a:latin typeface="Calibri"/>
                <a:ea typeface="Calibri"/>
                <a:cs typeface="Calibri"/>
              </a:rPr>
              <a:t>branded </a:t>
            </a:r>
            <a:r>
              <a:rPr lang="en-US" sz="1050">
                <a:latin typeface="Calibri"/>
                <a:ea typeface="Calibri"/>
                <a:cs typeface="Calibri"/>
              </a:rPr>
              <a:t>essential &amp; hygiene products at local events</a:t>
            </a:r>
          </a:p>
        </p:txBody>
      </p:sp>
      <p:sp>
        <p:nvSpPr>
          <p:cNvPr id="17" name="Text 15"/>
          <p:cNvSpPr/>
          <p:nvPr/>
        </p:nvSpPr>
        <p:spPr>
          <a:xfrm>
            <a:off x="3310128" y="3291840"/>
            <a:ext cx="242316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Font typeface="Arial"/>
              <a:buChar char="•"/>
            </a:pPr>
            <a:r>
              <a:rPr lang="en-US" sz="10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Tangible, human brand presence</a:t>
            </a:r>
          </a:p>
        </p:txBody>
      </p:sp>
      <p:sp>
        <p:nvSpPr>
          <p:cNvPr id="18" name="Text 16"/>
          <p:cNvSpPr/>
          <p:nvPr/>
        </p:nvSpPr>
        <p:spPr>
          <a:xfrm>
            <a:off x="3310128" y="3886200"/>
            <a:ext cx="242316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Font typeface="Arial"/>
              <a:buChar char="•"/>
            </a:pPr>
            <a:r>
              <a:rPr lang="en-US" sz="10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Roots </a:t>
            </a:r>
            <a:r>
              <a:rPr lang="en-US" sz="105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HealthE</a:t>
            </a:r>
            <a:r>
              <a:rPr lang="en-US" sz="10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in community life</a:t>
            </a:r>
          </a:p>
        </p:txBody>
      </p:sp>
      <p:sp>
        <p:nvSpPr>
          <p:cNvPr id="19" name="Shape 17"/>
          <p:cNvSpPr/>
          <p:nvPr/>
        </p:nvSpPr>
        <p:spPr>
          <a:xfrm>
            <a:off x="6080760" y="15544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554480"/>
            <a:ext cx="269748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6184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6080760" y="212140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Clinic Partnerships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6190488" y="2697480"/>
            <a:ext cx="242316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err="1">
                <a:latin typeface="Calibri"/>
                <a:ea typeface="Calibri"/>
                <a:cs typeface="Calibri"/>
              </a:rPr>
              <a:t>HealthE</a:t>
            </a:r>
            <a:r>
              <a:rPr lang="en-US" sz="1050">
                <a:latin typeface="Calibri"/>
                <a:ea typeface="Calibri"/>
                <a:cs typeface="Calibri"/>
              </a:rPr>
              <a:t> as a complement to in-person care — not a replacement</a:t>
            </a:r>
          </a:p>
        </p:txBody>
      </p:sp>
      <p:sp>
        <p:nvSpPr>
          <p:cNvPr id="24" name="Text 22"/>
          <p:cNvSpPr/>
          <p:nvPr/>
        </p:nvSpPr>
        <p:spPr>
          <a:xfrm>
            <a:off x="6190488" y="3291840"/>
            <a:ext cx="242316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050">
                <a:latin typeface="Calibri"/>
                <a:ea typeface="Calibri"/>
                <a:cs typeface="Calibri"/>
              </a:rPr>
              <a:t>Clinics refer patients</a:t>
            </a:r>
          </a:p>
        </p:txBody>
      </p:sp>
      <p:sp>
        <p:nvSpPr>
          <p:cNvPr id="25" name="Text 23"/>
          <p:cNvSpPr/>
          <p:nvPr/>
        </p:nvSpPr>
        <p:spPr>
          <a:xfrm>
            <a:off x="6180635" y="3856640"/>
            <a:ext cx="2521694" cy="559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050">
                <a:latin typeface="Calibri"/>
                <a:ea typeface="Calibri"/>
                <a:cs typeface="Calibri"/>
              </a:rPr>
              <a:t>Hybrid model to ease users into telehealth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303A"/>
          </a:solidFill>
          <a:ln w="12700">
            <a:solidFill>
              <a:srgbClr val="0530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Barriers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73152" cy="1170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51560"/>
            <a:ext cx="1005840" cy="1170432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600200" y="11430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1600200" y="1325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3A40"/>
                </a:solidFill>
                <a:latin typeface="Calibri"/>
                <a:ea typeface="Calibri"/>
                <a:cs typeface="Calibri"/>
              </a:rPr>
              <a:t>Users unclear on what they pay for and whether services are covered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7760" y="11430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4937760" y="13258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3A40"/>
                </a:solidFill>
                <a:latin typeface="Calibri"/>
                <a:ea typeface="Calibri"/>
                <a:cs typeface="Calibri"/>
              </a:rPr>
              <a:t>Group-based plans through employers, schools &amp; community orgs to reduce individual burden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2350008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50008"/>
            <a:ext cx="73152" cy="1170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350008"/>
            <a:ext cx="1005840" cy="1170432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2432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600200" y="2441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1600200" y="26243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3A40"/>
                </a:solidFill>
                <a:latin typeface="Calibri"/>
                <a:ea typeface="Calibri"/>
                <a:cs typeface="Calibri"/>
              </a:rPr>
              <a:t>Only 10% cite it explicitly, but low-connectivity impact is likely much greater in rural areas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37760" y="2441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4937760" y="262432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3A40"/>
                </a:solidFill>
                <a:latin typeface="Calibri"/>
                <a:ea typeface="Calibri"/>
                <a:cs typeface="Calibri"/>
              </a:rPr>
              <a:t>Optimize platform for low-bandwidth; guided onboarding via ambassador network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3648456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48456"/>
            <a:ext cx="73152" cy="1170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648456"/>
            <a:ext cx="1005840" cy="1170432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22776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1600200" y="37398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1600200" y="392277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3A40"/>
                </a:solidFill>
                <a:latin typeface="Calibri"/>
                <a:ea typeface="Calibri"/>
                <a:cs typeface="Calibri"/>
              </a:rPr>
              <a:t>Quality &amp; privacy concerns prevent first-time use and deter return visits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37760" y="37398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4937760" y="392277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3A40"/>
                </a:solidFill>
                <a:latin typeface="Calibri"/>
                <a:ea typeface="Calibri"/>
                <a:cs typeface="Calibri"/>
              </a:rPr>
              <a:t>Display provider credentials prominently; feature real testimonials from similar communities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303A"/>
          </a:solidFill>
          <a:ln w="12700">
            <a:solidFill>
              <a:srgbClr val="0530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engaging reactively — once — rather than making HealthE part of their routine.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4069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19072"/>
            <a:ext cx="40690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7393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Post-Visit Follow-Ups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475488" y="213969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latin typeface="Calibri"/>
                <a:ea typeface="Calibri"/>
                <a:cs typeface="Calibri"/>
              </a:rPr>
              <a:t>Automated check-ins after every appointment maintain the relationship and signal ongoing care</a:t>
            </a:r>
          </a:p>
        </p:txBody>
      </p:sp>
      <p:sp>
        <p:nvSpPr>
          <p:cNvPr id="10" name="Shape 8"/>
          <p:cNvSpPr/>
          <p:nvPr/>
        </p:nvSpPr>
        <p:spPr>
          <a:xfrm>
            <a:off x="4709160" y="1719072"/>
            <a:ext cx="4069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719072"/>
            <a:ext cx="406908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77393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Condition-Based Reminders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4818888" y="213969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reminders for chronic conditions and wellness goals keep users engaged between visits</a:t>
            </a: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" y="3227832"/>
            <a:ext cx="4069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27832"/>
            <a:ext cx="40690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28269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Access Model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475488" y="364845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latin typeface="Calibri"/>
                <a:ea typeface="Calibri"/>
                <a:cs typeface="Calibri"/>
              </a:rPr>
              <a:t>Free weekly sessions in month one incentivize habitual logins rather than one-time use</a:t>
            </a:r>
          </a:p>
        </p:txBody>
      </p:sp>
      <p:sp>
        <p:nvSpPr>
          <p:cNvPr id="18" name="Shape 16"/>
          <p:cNvSpPr/>
          <p:nvPr/>
        </p:nvSpPr>
        <p:spPr>
          <a:xfrm>
            <a:off x="4709160" y="3227832"/>
            <a:ext cx="4069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227832"/>
            <a:ext cx="406908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28269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Services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4818888" y="4075838"/>
            <a:ext cx="3845449" cy="3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Urgent care</a:t>
            </a: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(55%) · </a:t>
            </a:r>
            <a:r>
              <a:rPr lang="en-US" sz="1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Primary care </a:t>
            </a: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(50%) · </a:t>
            </a:r>
            <a:r>
              <a:rPr lang="en-US" sz="1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Rx refills</a:t>
            </a: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(48%) · </a:t>
            </a:r>
            <a:r>
              <a:rPr lang="en-US" sz="1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Mental health</a:t>
            </a: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(42%) </a:t>
            </a:r>
            <a:r>
              <a:rPr lang="en-US" sz="110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"</a:t>
            </a:r>
            <a:r>
              <a:rPr lang="en-US" sz="11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HealthE's</a:t>
            </a: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core offerings match all top 4 — delivery consistency is the retention lever"</a:t>
            </a:r>
            <a:endParaRPr lang="en-US" sz="1100">
              <a:latin typeface="Calibri"/>
              <a:ea typeface="Calibri"/>
              <a:cs typeface="Calibri"/>
            </a:endParaRPr>
          </a:p>
          <a:p>
            <a:br>
              <a:rPr lang="en-US"/>
            </a:b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303A"/>
          </a:solidFill>
          <a:ln w="12700">
            <a:solidFill>
              <a:srgbClr val="0530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Growth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0704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&amp; Underserved Markets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emphasis on trust-building and community education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502920" y="218541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with local orgs and clinics remain central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502920" y="279806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Ambassador programs reduce tech and awareness barriers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502920" y="341071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Word-of-mouth and peer testimonials drive adoption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built here becomes a long-term brand asset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05840"/>
            <a:ext cx="411480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060704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&amp; Urban Markets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4800600" y="157276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pool of potential users — requires evolved strategy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4800600" y="2185416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convenience, speed &amp; cost vs. competitors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4800600" y="2798064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digital presence and employer-based distribution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4800600" y="3410712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credibility from early markets differentiates HealthE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4800600" y="402336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1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against transactional platforms with human-centered brand</a:t>
            </a:r>
            <a:endParaRPr lang="en-US" sz="11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30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9C3E71-9B39-508A-EF41-3BAA5D198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B89B961-6BCD-E94F-B72D-A4BC267838A6}"/>
              </a:ext>
            </a:extLst>
          </p:cNvPr>
          <p:cNvSpPr/>
          <p:nvPr/>
        </p:nvSpPr>
        <p:spPr>
          <a:xfrm rot="16200000">
            <a:off x="6406816" y="2404210"/>
            <a:ext cx="5128461" cy="34801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AB10712-8859-D9B4-9485-117479EA9D4D}"/>
              </a:ext>
            </a:extLst>
          </p:cNvPr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1BF698-8450-911E-3BDD-6635B230E40B}"/>
              </a:ext>
            </a:extLst>
          </p:cNvPr>
          <p:cNvSpPr/>
          <p:nvPr/>
        </p:nvSpPr>
        <p:spPr>
          <a:xfrm>
            <a:off x="548640" y="130013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FFFFF"/>
                </a:solidFill>
                <a:ea typeface="Calibri"/>
                <a:cs typeface="Calibri"/>
              </a:rPr>
              <a:t>Strategic Roadmap: Community Piolet to Market Leader 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DCFDAA4-0C17-4175-66AE-A13F86564587}"/>
              </a:ext>
            </a:extLst>
          </p:cNvPr>
          <p:cNvSpPr/>
          <p:nvPr/>
        </p:nvSpPr>
        <p:spPr>
          <a:xfrm>
            <a:off x="452882" y="556151"/>
            <a:ext cx="8348202" cy="1215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00">
              <a:solidFill>
                <a:srgbClr val="C8E6EA"/>
              </a:solidFill>
              <a:ea typeface="Calibri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FC073A4-F5FE-5C47-0BFF-D0CE2AC2A2E4}"/>
              </a:ext>
            </a:extLst>
          </p:cNvPr>
          <p:cNvSpPr/>
          <p:nvPr/>
        </p:nvSpPr>
        <p:spPr>
          <a:xfrm>
            <a:off x="548640" y="4343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>
              <a:solidFill>
                <a:srgbClr val="D0F0F5"/>
              </a:solidFill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DEAE05-0578-6480-7C09-1BF2230B1828}"/>
              </a:ext>
            </a:extLst>
          </p:cNvPr>
          <p:cNvSpPr txBox="1"/>
          <p:nvPr/>
        </p:nvSpPr>
        <p:spPr>
          <a:xfrm>
            <a:off x="549042" y="1047033"/>
            <a:ext cx="3982836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u="sng">
                <a:solidFill>
                  <a:srgbClr val="FFFFFF"/>
                </a:solidFill>
                <a:ea typeface="Calibri"/>
                <a:cs typeface="Calibri"/>
              </a:rPr>
              <a:t>ONE YEAR PLAN</a:t>
            </a:r>
            <a:r>
              <a:rPr lang="en-US" sz="1600">
                <a:solidFill>
                  <a:srgbClr val="FFFFFF"/>
                </a:solidFill>
                <a:ea typeface="Calibri"/>
                <a:cs typeface="Calibri"/>
              </a:rPr>
              <a:t>: STABILIZE AND LOYALTY </a:t>
            </a:r>
            <a:endParaRPr lang="en-US" sz="1600">
              <a:ea typeface="Calibri"/>
              <a:cs typeface="Calibri"/>
            </a:endParaRPr>
          </a:p>
          <a:p>
            <a:endParaRPr lang="en-US" sz="1600">
              <a:ea typeface="Calibri"/>
              <a:cs typeface="Calibri"/>
            </a:endParaRPr>
          </a:p>
          <a:p>
            <a:r>
              <a:rPr lang="en-US" sz="1600">
                <a:solidFill>
                  <a:srgbClr val="FFFFFF"/>
                </a:solidFill>
                <a:ea typeface="Calibri"/>
                <a:cs typeface="Calibri"/>
              </a:rPr>
              <a:t>1) Focus: </a:t>
            </a:r>
            <a:r>
              <a:rPr lang="en-US" sz="1600">
                <a:solidFill>
                  <a:srgbClr val="FFFFFF"/>
                </a:solidFill>
                <a:ea typeface="+mn-lt"/>
                <a:cs typeface="+mn-lt"/>
              </a:rPr>
              <a:t>Deepen relational trust between the community members and </a:t>
            </a:r>
            <a:r>
              <a:rPr lang="en-US" sz="1600" err="1">
                <a:solidFill>
                  <a:srgbClr val="FFFFFF"/>
                </a:solidFill>
                <a:ea typeface="+mn-lt"/>
                <a:cs typeface="+mn-lt"/>
              </a:rPr>
              <a:t>HealthE</a:t>
            </a:r>
            <a:r>
              <a:rPr lang="en-US" sz="1600">
                <a:solidFill>
                  <a:srgbClr val="FFFFFF"/>
                </a:solidFill>
                <a:ea typeface="Calibri"/>
                <a:cs typeface="Calibri"/>
              </a:rPr>
              <a:t>  </a:t>
            </a:r>
            <a:endParaRPr lang="en-US" sz="1600">
              <a:ea typeface="Calibri"/>
              <a:cs typeface="Calibri"/>
            </a:endParaRPr>
          </a:p>
          <a:p>
            <a:endParaRPr lang="en-US" sz="1600">
              <a:ea typeface="Calibri"/>
              <a:cs typeface="Calibri"/>
            </a:endParaRPr>
          </a:p>
          <a:p>
            <a:r>
              <a:rPr lang="en-US" sz="1600">
                <a:solidFill>
                  <a:srgbClr val="FFFFFF"/>
                </a:solidFill>
                <a:ea typeface="Calibri"/>
                <a:cs typeface="Calibri"/>
              </a:rPr>
              <a:t>2) Expected Result: Become the first point of contact of the people for non-emergency care and health problems</a:t>
            </a:r>
          </a:p>
          <a:p>
            <a:endParaRPr lang="en-US" sz="1600">
              <a:solidFill>
                <a:srgbClr val="FFFFFF"/>
              </a:solidFill>
              <a:ea typeface="Calibri"/>
              <a:cs typeface="Calibri"/>
            </a:endParaRPr>
          </a:p>
          <a:p>
            <a:r>
              <a:rPr lang="en-US" sz="1600">
                <a:solidFill>
                  <a:srgbClr val="FFFFFF"/>
                </a:solidFill>
                <a:ea typeface="Calibri"/>
                <a:cs typeface="Calibri"/>
              </a:rPr>
              <a:t>3) Track: Measure the retention rate of the habitual user's to ensure long-term progress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3DE924-1718-84D1-2B3A-80CAD37BFD7B}"/>
              </a:ext>
            </a:extLst>
          </p:cNvPr>
          <p:cNvSpPr txBox="1"/>
          <p:nvPr/>
        </p:nvSpPr>
        <p:spPr>
          <a:xfrm>
            <a:off x="4626726" y="1048167"/>
            <a:ext cx="3981133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u="sng">
                <a:solidFill>
                  <a:srgbClr val="FFFFFF"/>
                </a:solidFill>
                <a:ea typeface="Calibri"/>
                <a:cs typeface="Calibri"/>
              </a:rPr>
              <a:t>THREE YEAR PLAN</a:t>
            </a:r>
            <a:r>
              <a:rPr lang="en-US" sz="1600">
                <a:solidFill>
                  <a:srgbClr val="FFFFFF"/>
                </a:solidFill>
                <a:ea typeface="Calibri"/>
                <a:cs typeface="Calibri"/>
              </a:rPr>
              <a:t>: MARKET LEADERSHIP AND EXPANSION</a:t>
            </a:r>
            <a:endParaRPr lang="en-US" sz="1600">
              <a:ea typeface="Calibri"/>
              <a:cs typeface="Calibri"/>
            </a:endParaRPr>
          </a:p>
          <a:p>
            <a:endParaRPr lang="en-US" sz="1600">
              <a:ea typeface="Calibri"/>
              <a:cs typeface="Calibri"/>
            </a:endParaRPr>
          </a:p>
          <a:p>
            <a:r>
              <a:rPr lang="en-US" sz="1600">
                <a:solidFill>
                  <a:srgbClr val="FFFFFF"/>
                </a:solidFill>
                <a:ea typeface="Calibri"/>
                <a:cs typeface="Calibri"/>
              </a:rPr>
              <a:t>1) Focus: Scale educational related partnerships beyond the pilot community </a:t>
            </a:r>
          </a:p>
          <a:p>
            <a:endParaRPr lang="en-US" sz="1600">
              <a:solidFill>
                <a:srgbClr val="FFFFFF"/>
              </a:solidFill>
              <a:ea typeface="Calibri"/>
              <a:cs typeface="Calibri"/>
            </a:endParaRPr>
          </a:p>
          <a:p>
            <a:r>
              <a:rPr lang="en-US" sz="1600">
                <a:solidFill>
                  <a:srgbClr val="FFFFFF"/>
                </a:solidFill>
                <a:ea typeface="Calibri"/>
                <a:cs typeface="Calibri"/>
              </a:rPr>
              <a:t>2) Expected Result: Expect </a:t>
            </a:r>
            <a:r>
              <a:rPr lang="en-US" sz="1600" err="1">
                <a:solidFill>
                  <a:srgbClr val="FFFFFF"/>
                </a:solidFill>
                <a:ea typeface="Calibri"/>
                <a:cs typeface="Calibri"/>
              </a:rPr>
              <a:t>HealthE</a:t>
            </a:r>
            <a:r>
              <a:rPr lang="en-US" sz="1600">
                <a:solidFill>
                  <a:srgbClr val="FFFFFF"/>
                </a:solidFill>
                <a:ea typeface="Calibri"/>
                <a:cs typeface="Calibri"/>
              </a:rPr>
              <a:t> ambassador program to become the primary solution to digitally divided communities </a:t>
            </a:r>
            <a:endParaRPr lang="en-US"/>
          </a:p>
          <a:p>
            <a:endParaRPr lang="en-US" sz="1600">
              <a:solidFill>
                <a:srgbClr val="FFFFFF"/>
              </a:solidFill>
              <a:ea typeface="Calibri"/>
              <a:cs typeface="Calibri"/>
            </a:endParaRPr>
          </a:p>
          <a:p>
            <a:r>
              <a:rPr lang="en-US" sz="1600">
                <a:solidFill>
                  <a:srgbClr val="FFFFFF"/>
                </a:solidFill>
                <a:ea typeface="Calibri"/>
                <a:cs typeface="Calibri"/>
              </a:rPr>
              <a:t>3) Success Benchmarks: Measure Lifetime value (LVT) to customer acquisition cost (CAC)</a:t>
            </a:r>
          </a:p>
        </p:txBody>
      </p:sp>
    </p:spTree>
    <p:extLst>
      <p:ext uri="{BB962C8B-B14F-4D97-AF65-F5344CB8AC3E}">
        <p14:creationId xmlns:p14="http://schemas.microsoft.com/office/powerpoint/2010/main" val="1528872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HealthE Strategic Recommendations</dc:title>
  <dc:subject>PptxGenJS Presentation</dc:subject>
  <dc:creator>PptxGenJS</dc:creator>
  <cp:revision>3</cp:revision>
  <dcterms:created xsi:type="dcterms:W3CDTF">2026-04-10T01:57:16Z</dcterms:created>
  <dcterms:modified xsi:type="dcterms:W3CDTF">2026-04-16T17:22:09Z</dcterms:modified>
</cp:coreProperties>
</file>